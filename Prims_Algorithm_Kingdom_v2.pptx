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480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08960"/>
            <a:ext cx="4206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How a King Built Roads Without Going Broke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089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Prim’s algorithm, one village at a time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Shlok Chourasia</a:t>
            </a:r>
            <a:endParaRPr lang="en-US" sz="1400" dirty="0"/>
          </a:p>
        </p:txBody>
      </p:sp>
      <p:sp>
        <p:nvSpPr>
          <p:cNvPr id="5" name="road A-B"/>
          <p:cNvSpPr/>
          <p:nvPr/>
        </p:nvSpPr>
        <p:spPr>
          <a:xfrm flipV="1">
            <a:off x="5381244" y="1492301"/>
            <a:ext cx="947318" cy="1113739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6" name="road A-C"/>
          <p:cNvSpPr/>
          <p:nvPr/>
        </p:nvSpPr>
        <p:spPr>
          <a:xfrm>
            <a:off x="5381244" y="2606040"/>
            <a:ext cx="947318" cy="1113739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7" name="road B-C"/>
          <p:cNvSpPr/>
          <p:nvPr/>
        </p:nvSpPr>
        <p:spPr>
          <a:xfrm>
            <a:off x="6328562" y="1492301"/>
            <a:ext cx="0" cy="2227478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8" name="road B-D"/>
          <p:cNvSpPr/>
          <p:nvPr/>
        </p:nvSpPr>
        <p:spPr>
          <a:xfrm>
            <a:off x="6328562" y="1492301"/>
            <a:ext cx="1150315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9" name="road C-D"/>
          <p:cNvSpPr/>
          <p:nvPr/>
        </p:nvSpPr>
        <p:spPr>
          <a:xfrm flipV="1">
            <a:off x="6328562" y="1492301"/>
            <a:ext cx="1150315" cy="2227478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10" name="road C-E"/>
          <p:cNvSpPr/>
          <p:nvPr/>
        </p:nvSpPr>
        <p:spPr>
          <a:xfrm>
            <a:off x="6328562" y="3719779"/>
            <a:ext cx="1150315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11" name="road D-E"/>
          <p:cNvSpPr/>
          <p:nvPr/>
        </p:nvSpPr>
        <p:spPr>
          <a:xfrm>
            <a:off x="7478878" y="1492301"/>
            <a:ext cx="0" cy="2227478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12" name="road D-F"/>
          <p:cNvSpPr/>
          <p:nvPr/>
        </p:nvSpPr>
        <p:spPr>
          <a:xfrm>
            <a:off x="7478878" y="1492301"/>
            <a:ext cx="947318" cy="1113739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13" name="road E-F"/>
          <p:cNvSpPr/>
          <p:nvPr/>
        </p:nvSpPr>
        <p:spPr>
          <a:xfrm flipV="1">
            <a:off x="7478878" y="2606040"/>
            <a:ext cx="947318" cy="1113739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14" name="cost A-B"/>
          <p:cNvSpPr txBox="1"/>
          <p:nvPr/>
        </p:nvSpPr>
        <p:spPr>
          <a:xfrm>
            <a:off x="5635447" y="1902866"/>
            <a:ext cx="438912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cost A-C"/>
          <p:cNvSpPr txBox="1"/>
          <p:nvPr/>
        </p:nvSpPr>
        <p:spPr>
          <a:xfrm>
            <a:off x="5635447" y="3016606"/>
            <a:ext cx="438912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cost B-C"/>
          <p:cNvSpPr txBox="1"/>
          <p:nvPr/>
        </p:nvSpPr>
        <p:spPr>
          <a:xfrm>
            <a:off x="6109106" y="2459736"/>
            <a:ext cx="438912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cost B-D"/>
          <p:cNvSpPr txBox="1"/>
          <p:nvPr/>
        </p:nvSpPr>
        <p:spPr>
          <a:xfrm>
            <a:off x="6684264" y="1345997"/>
            <a:ext cx="438912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cost C-D"/>
          <p:cNvSpPr txBox="1"/>
          <p:nvPr/>
        </p:nvSpPr>
        <p:spPr>
          <a:xfrm>
            <a:off x="6684264" y="2459736"/>
            <a:ext cx="438912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8</a:t>
            </a:r>
            <a:endParaRPr lang="en-US" sz="1300" dirty="0"/>
          </a:p>
        </p:txBody>
      </p:sp>
      <p:sp>
        <p:nvSpPr>
          <p:cNvPr id="19" name="cost C-E"/>
          <p:cNvSpPr txBox="1"/>
          <p:nvPr/>
        </p:nvSpPr>
        <p:spPr>
          <a:xfrm>
            <a:off x="6684264" y="3573475"/>
            <a:ext cx="438912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10</a:t>
            </a:r>
            <a:endParaRPr lang="en-US" sz="1300" dirty="0"/>
          </a:p>
        </p:txBody>
      </p:sp>
      <p:sp>
        <p:nvSpPr>
          <p:cNvPr id="20" name="cost D-E"/>
          <p:cNvSpPr txBox="1"/>
          <p:nvPr/>
        </p:nvSpPr>
        <p:spPr>
          <a:xfrm>
            <a:off x="7259422" y="2459736"/>
            <a:ext cx="438912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cost D-F"/>
          <p:cNvSpPr txBox="1"/>
          <p:nvPr/>
        </p:nvSpPr>
        <p:spPr>
          <a:xfrm>
            <a:off x="7733081" y="1902866"/>
            <a:ext cx="438912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cost E-F"/>
          <p:cNvSpPr txBox="1"/>
          <p:nvPr/>
        </p:nvSpPr>
        <p:spPr>
          <a:xfrm>
            <a:off x="7733081" y="3016606"/>
            <a:ext cx="438912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village A"/>
          <p:cNvSpPr txBox="1"/>
          <p:nvPr/>
        </p:nvSpPr>
        <p:spPr>
          <a:xfrm>
            <a:off x="5129784" y="2354580"/>
            <a:ext cx="502920" cy="50292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  <a:endParaRPr lang="en-US" sz="1800" dirty="0"/>
          </a:p>
        </p:txBody>
      </p:sp>
      <p:sp>
        <p:nvSpPr>
          <p:cNvPr id="24" name="village B"/>
          <p:cNvSpPr txBox="1"/>
          <p:nvPr/>
        </p:nvSpPr>
        <p:spPr>
          <a:xfrm>
            <a:off x="6077102" y="1240841"/>
            <a:ext cx="502920" cy="5029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25" name="village C"/>
          <p:cNvSpPr txBox="1"/>
          <p:nvPr/>
        </p:nvSpPr>
        <p:spPr>
          <a:xfrm>
            <a:off x="6077102" y="3468319"/>
            <a:ext cx="502920" cy="5029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26" name="village D"/>
          <p:cNvSpPr txBox="1"/>
          <p:nvPr/>
        </p:nvSpPr>
        <p:spPr>
          <a:xfrm>
            <a:off x="7227418" y="1240841"/>
            <a:ext cx="502920" cy="5029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</a:t>
            </a:r>
            <a:endParaRPr lang="en-US" sz="1800" dirty="0"/>
          </a:p>
        </p:txBody>
      </p:sp>
      <p:sp>
        <p:nvSpPr>
          <p:cNvPr id="27" name="village E"/>
          <p:cNvSpPr txBox="1"/>
          <p:nvPr/>
        </p:nvSpPr>
        <p:spPr>
          <a:xfrm>
            <a:off x="7227418" y="3468319"/>
            <a:ext cx="502920" cy="5029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</a:t>
            </a:r>
            <a:endParaRPr lang="en-US" sz="1800" dirty="0"/>
          </a:p>
        </p:txBody>
      </p:sp>
      <p:sp>
        <p:nvSpPr>
          <p:cNvPr id="28" name="village F"/>
          <p:cNvSpPr txBox="1"/>
          <p:nvPr/>
        </p:nvSpPr>
        <p:spPr>
          <a:xfrm>
            <a:off x="8174736" y="2354580"/>
            <a:ext cx="502920" cy="5029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Here’s the problem</a:t>
            </a:r>
            <a:endParaRPr lang="en-US" sz="3400" dirty="0"/>
          </a:p>
        </p:txBody>
      </p:sp>
      <p:sp>
        <p:nvSpPr>
          <p:cNvPr id="3" name="problem"/>
          <p:cNvSpPr txBox="1"/>
          <p:nvPr/>
        </p:nvSpPr>
        <p:spPr>
          <a:xfrm>
            <a:off x="457200" y="146304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Six villages. Zero roads. One king who hates wasting money.</a:t>
            </a:r>
            <a:endParaRPr lang="en-US" sz="2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King Aldric wants every village reachable from every other one, but each road has a price. So which roads should he actually build?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14630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6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949440" y="1463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villages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25146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9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25146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roads he could build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35661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5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3566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roads he actually needs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map of Nodara</a:t>
            </a:r>
            <a:endParaRPr lang="en-US" sz="3400" dirty="0"/>
          </a:p>
        </p:txBody>
      </p:sp>
      <p:sp>
        <p:nvSpPr>
          <p:cNvPr id="3" name="road A-B"/>
          <p:cNvSpPr/>
          <p:nvPr/>
        </p:nvSpPr>
        <p:spPr>
          <a:xfrm flipV="1">
            <a:off x="896112" y="1704442"/>
            <a:ext cx="1433779" cy="1267358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4" name="road A-C"/>
          <p:cNvSpPr/>
          <p:nvPr/>
        </p:nvSpPr>
        <p:spPr>
          <a:xfrm>
            <a:off x="896112" y="2971800"/>
            <a:ext cx="1433779" cy="1267358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5" name="road B-C"/>
          <p:cNvSpPr/>
          <p:nvPr/>
        </p:nvSpPr>
        <p:spPr>
          <a:xfrm>
            <a:off x="2329891" y="1704442"/>
            <a:ext cx="0" cy="2534717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6" name="road B-D"/>
          <p:cNvSpPr/>
          <p:nvPr/>
        </p:nvSpPr>
        <p:spPr>
          <a:xfrm>
            <a:off x="2329891" y="1704442"/>
            <a:ext cx="1741018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7" name="road C-D"/>
          <p:cNvSpPr/>
          <p:nvPr/>
        </p:nvSpPr>
        <p:spPr>
          <a:xfrm flipV="1">
            <a:off x="2329891" y="1704442"/>
            <a:ext cx="1741018" cy="2534717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8" name="road C-E"/>
          <p:cNvSpPr/>
          <p:nvPr/>
        </p:nvSpPr>
        <p:spPr>
          <a:xfrm>
            <a:off x="2329891" y="4239158"/>
            <a:ext cx="1741018" cy="0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9" name="road D-E"/>
          <p:cNvSpPr/>
          <p:nvPr/>
        </p:nvSpPr>
        <p:spPr>
          <a:xfrm>
            <a:off x="4070909" y="1704442"/>
            <a:ext cx="0" cy="2534717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10" name="road D-F"/>
          <p:cNvSpPr/>
          <p:nvPr/>
        </p:nvSpPr>
        <p:spPr>
          <a:xfrm>
            <a:off x="4070909" y="1704442"/>
            <a:ext cx="1433779" cy="1267358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11" name="road E-F"/>
          <p:cNvSpPr/>
          <p:nvPr/>
        </p:nvSpPr>
        <p:spPr>
          <a:xfrm flipV="1">
            <a:off x="4070909" y="2971800"/>
            <a:ext cx="1433779" cy="1267358"/>
          </a:xfrm>
          <a:prstGeom prst="line">
            <a:avLst/>
          </a:prstGeom>
          <a:noFill/>
          <a:ln w="28575">
            <a:solidFill>
              <a:schemeClr val="accent5"/>
            </a:solidFill>
            <a:prstDash val="solid"/>
          </a:ln>
        </p:spPr>
      </p:sp>
      <p:sp>
        <p:nvSpPr>
          <p:cNvPr id="12" name="cost A-B"/>
          <p:cNvSpPr txBox="1"/>
          <p:nvPr/>
        </p:nvSpPr>
        <p:spPr>
          <a:xfrm>
            <a:off x="1393546" y="2191817"/>
            <a:ext cx="438912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13" name="cost A-C"/>
          <p:cNvSpPr txBox="1"/>
          <p:nvPr/>
        </p:nvSpPr>
        <p:spPr>
          <a:xfrm>
            <a:off x="1393546" y="3459175"/>
            <a:ext cx="438912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cost B-C"/>
          <p:cNvSpPr txBox="1"/>
          <p:nvPr/>
        </p:nvSpPr>
        <p:spPr>
          <a:xfrm>
            <a:off x="2110435" y="2825496"/>
            <a:ext cx="438912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cost B-D"/>
          <p:cNvSpPr txBox="1"/>
          <p:nvPr/>
        </p:nvSpPr>
        <p:spPr>
          <a:xfrm>
            <a:off x="2980944" y="1558138"/>
            <a:ext cx="438912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sp>
        <p:nvSpPr>
          <p:cNvPr id="16" name="cost C-D"/>
          <p:cNvSpPr txBox="1"/>
          <p:nvPr/>
        </p:nvSpPr>
        <p:spPr>
          <a:xfrm>
            <a:off x="2980944" y="2825496"/>
            <a:ext cx="438912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8</a:t>
            </a:r>
            <a:endParaRPr lang="en-US" sz="1300" dirty="0"/>
          </a:p>
        </p:txBody>
      </p:sp>
      <p:sp>
        <p:nvSpPr>
          <p:cNvPr id="17" name="cost C-E"/>
          <p:cNvSpPr txBox="1"/>
          <p:nvPr/>
        </p:nvSpPr>
        <p:spPr>
          <a:xfrm>
            <a:off x="2980944" y="4092854"/>
            <a:ext cx="438912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10</a:t>
            </a:r>
            <a:endParaRPr lang="en-US" sz="1300" dirty="0"/>
          </a:p>
        </p:txBody>
      </p:sp>
      <p:sp>
        <p:nvSpPr>
          <p:cNvPr id="18" name="cost D-E"/>
          <p:cNvSpPr txBox="1"/>
          <p:nvPr/>
        </p:nvSpPr>
        <p:spPr>
          <a:xfrm>
            <a:off x="3851453" y="2825496"/>
            <a:ext cx="438912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cost D-F"/>
          <p:cNvSpPr txBox="1"/>
          <p:nvPr/>
        </p:nvSpPr>
        <p:spPr>
          <a:xfrm>
            <a:off x="4568342" y="2191817"/>
            <a:ext cx="438912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cost E-F"/>
          <p:cNvSpPr txBox="1"/>
          <p:nvPr/>
        </p:nvSpPr>
        <p:spPr>
          <a:xfrm>
            <a:off x="4568342" y="3459175"/>
            <a:ext cx="438912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village A"/>
          <p:cNvSpPr txBox="1"/>
          <p:nvPr/>
        </p:nvSpPr>
        <p:spPr>
          <a:xfrm>
            <a:off x="621792" y="2697480"/>
            <a:ext cx="548640" cy="54864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  <a:endParaRPr lang="en-US" sz="1800" dirty="0"/>
          </a:p>
        </p:txBody>
      </p:sp>
      <p:sp>
        <p:nvSpPr>
          <p:cNvPr id="22" name="village B"/>
          <p:cNvSpPr txBox="1"/>
          <p:nvPr/>
        </p:nvSpPr>
        <p:spPr>
          <a:xfrm>
            <a:off x="2055571" y="1430122"/>
            <a:ext cx="548640" cy="54864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23" name="village C"/>
          <p:cNvSpPr txBox="1"/>
          <p:nvPr/>
        </p:nvSpPr>
        <p:spPr>
          <a:xfrm>
            <a:off x="2055571" y="3964838"/>
            <a:ext cx="548640" cy="54864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24" name="village D"/>
          <p:cNvSpPr txBox="1"/>
          <p:nvPr/>
        </p:nvSpPr>
        <p:spPr>
          <a:xfrm>
            <a:off x="3796589" y="1430122"/>
            <a:ext cx="548640" cy="54864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</a:t>
            </a:r>
            <a:endParaRPr lang="en-US" sz="1800" dirty="0"/>
          </a:p>
        </p:txBody>
      </p:sp>
      <p:sp>
        <p:nvSpPr>
          <p:cNvPr id="25" name="village E"/>
          <p:cNvSpPr txBox="1"/>
          <p:nvPr/>
        </p:nvSpPr>
        <p:spPr>
          <a:xfrm>
            <a:off x="3796589" y="3964838"/>
            <a:ext cx="548640" cy="54864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</a:t>
            </a:r>
            <a:endParaRPr lang="en-US" sz="1800" dirty="0"/>
          </a:p>
        </p:txBody>
      </p:sp>
      <p:sp>
        <p:nvSpPr>
          <p:cNvPr id="26" name="village F"/>
          <p:cNvSpPr txBox="1"/>
          <p:nvPr/>
        </p:nvSpPr>
        <p:spPr>
          <a:xfrm>
            <a:off x="5230368" y="2697480"/>
            <a:ext cx="548640" cy="54864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11480" y="33101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↑ start here</a:t>
            </a:r>
            <a:endParaRPr lang="en-US" sz="1400" dirty="0"/>
          </a:p>
        </p:txBody>
      </p:sp>
      <p:sp>
        <p:nvSpPr>
          <p:cNvPr id="28" name="map notes"/>
          <p:cNvSpPr txBox="1"/>
          <p:nvPr/>
        </p:nvSpPr>
        <p:spPr>
          <a:xfrm>
            <a:off x="6217920" y="155448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Each number is what that road costs to build, in gold coins.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Cheapest road on the map: B–C at 1 coin. Priciest: C–E at 10.</a:t>
            </a:r>
            <a:endParaRPr lang="en-US" sz="1600" dirty="0"/>
          </a:p>
        </p:txBody>
      </p:sp>
      <p:sp>
        <p:nvSpPr>
          <p:cNvPr id="29" name="sticky note"/>
          <p:cNvSpPr txBox="1"/>
          <p:nvPr/>
        </p:nvSpPr>
        <p:spPr>
          <a:xfrm rot="120000">
            <a:off x="6217920" y="3566160"/>
            <a:ext cx="2468880" cy="91440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1778" tIns="1778" rIns="1778" bIns="1778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Try guessing the cheapest network before the next slides. Then check yourself!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engineer’s trick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173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14356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Pick a village to start from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8288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Any one works. It’s now the “kingdom”.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688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2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4871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Look at roads leaving the kingdom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803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count roads that reach a village we haven’t connected yet.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520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3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5387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Build the cheapest one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931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that village, then go back to step 2.</a:t>
            </a:r>
            <a:endParaRPr lang="en-US" sz="1400" dirty="0"/>
          </a:p>
        </p:txBody>
      </p:sp>
      <p:sp>
        <p:nvSpPr>
          <p:cNvPr id="12" name="sticky note"/>
          <p:cNvSpPr txBox="1"/>
          <p:nvPr/>
        </p:nvSpPr>
        <p:spPr>
          <a:xfrm rot="-180000">
            <a:off x="6309360" y="1828800"/>
            <a:ext cx="2377440" cy="137160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1778" tIns="1778" rIns="1778" bIns="1778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Think of a snowball: the kingdom only ever rolls onto the nearest new village.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Watch it happen</a:t>
            </a:r>
            <a:endParaRPr lang="en-US" sz="3400" dirty="0"/>
          </a:p>
        </p:txBody>
      </p:sp>
      <p:graphicFrame>
        <p:nvGraphicFramePr>
          <p:cNvPr id="6" name="step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822960"/>
                <a:gridCol w="640080"/>
                <a:gridCol w="731520"/>
                <a:gridCol w="46634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Joins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Road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the engineer is thinking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A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Start at A, the capital is as good as any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A–C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A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Options are A–B (4) and A–C (2). Take the 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B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C–B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A33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B is now reachable from C for just 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B–D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A33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B–D (5) beats C–D (8) and C–E (10)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D–E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A33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D–E costs only 2, easy pick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F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E–F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2A33"/>
                          </a:solidFill>
                        </a:rPr>
                        <a:t>13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B2A33"/>
                          </a:solidFill>
                        </a:rPr>
                        <a:t>E–F (3) beats D–F (6). All connected!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0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B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finished kingdom</a:t>
            </a:r>
            <a:endParaRPr lang="en-US" sz="3400" dirty="0"/>
          </a:p>
        </p:txBody>
      </p:sp>
      <p:sp>
        <p:nvSpPr>
          <p:cNvPr id="3" name="road A-B"/>
          <p:cNvSpPr/>
          <p:nvPr/>
        </p:nvSpPr>
        <p:spPr>
          <a:xfrm flipV="1">
            <a:off x="896112" y="1704442"/>
            <a:ext cx="1433779" cy="1267358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4" name="road A-C"/>
          <p:cNvSpPr/>
          <p:nvPr/>
        </p:nvSpPr>
        <p:spPr>
          <a:xfrm>
            <a:off x="896112" y="2971800"/>
            <a:ext cx="1433779" cy="1267358"/>
          </a:xfrm>
          <a:prstGeom prst="line">
            <a:avLst/>
          </a:prstGeom>
          <a:noFill/>
          <a:ln w="63500">
            <a:solidFill>
              <a:schemeClr val="accent3"/>
            </a:solidFill>
            <a:prstDash val="solid"/>
          </a:ln>
        </p:spPr>
      </p:sp>
      <p:sp>
        <p:nvSpPr>
          <p:cNvPr id="5" name="road B-C"/>
          <p:cNvSpPr/>
          <p:nvPr/>
        </p:nvSpPr>
        <p:spPr>
          <a:xfrm>
            <a:off x="2329891" y="1704442"/>
            <a:ext cx="0" cy="2534717"/>
          </a:xfrm>
          <a:prstGeom prst="line">
            <a:avLst/>
          </a:prstGeom>
          <a:noFill/>
          <a:ln w="63500">
            <a:solidFill>
              <a:schemeClr val="accent3"/>
            </a:solidFill>
            <a:prstDash val="solid"/>
          </a:ln>
        </p:spPr>
      </p:sp>
      <p:sp>
        <p:nvSpPr>
          <p:cNvPr id="6" name="road B-D"/>
          <p:cNvSpPr/>
          <p:nvPr/>
        </p:nvSpPr>
        <p:spPr>
          <a:xfrm>
            <a:off x="2329891" y="1704442"/>
            <a:ext cx="1741018" cy="0"/>
          </a:xfrm>
          <a:prstGeom prst="line">
            <a:avLst/>
          </a:prstGeom>
          <a:noFill/>
          <a:ln w="63500">
            <a:solidFill>
              <a:schemeClr val="accent3"/>
            </a:solidFill>
            <a:prstDash val="solid"/>
          </a:ln>
        </p:spPr>
      </p:sp>
      <p:sp>
        <p:nvSpPr>
          <p:cNvPr id="7" name="road C-D"/>
          <p:cNvSpPr/>
          <p:nvPr/>
        </p:nvSpPr>
        <p:spPr>
          <a:xfrm flipV="1">
            <a:off x="2329891" y="1704442"/>
            <a:ext cx="1741018" cy="2534717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8" name="road C-E"/>
          <p:cNvSpPr/>
          <p:nvPr/>
        </p:nvSpPr>
        <p:spPr>
          <a:xfrm>
            <a:off x="2329891" y="4239158"/>
            <a:ext cx="1741018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9" name="road D-E"/>
          <p:cNvSpPr/>
          <p:nvPr/>
        </p:nvSpPr>
        <p:spPr>
          <a:xfrm>
            <a:off x="4070909" y="1704442"/>
            <a:ext cx="0" cy="2534717"/>
          </a:xfrm>
          <a:prstGeom prst="line">
            <a:avLst/>
          </a:prstGeom>
          <a:noFill/>
          <a:ln w="63500">
            <a:solidFill>
              <a:schemeClr val="accent3"/>
            </a:solidFill>
            <a:prstDash val="solid"/>
          </a:ln>
        </p:spPr>
      </p:sp>
      <p:sp>
        <p:nvSpPr>
          <p:cNvPr id="10" name="road D-F"/>
          <p:cNvSpPr/>
          <p:nvPr/>
        </p:nvSpPr>
        <p:spPr>
          <a:xfrm>
            <a:off x="4070909" y="1704442"/>
            <a:ext cx="1433779" cy="1267358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11" name="road E-F"/>
          <p:cNvSpPr/>
          <p:nvPr/>
        </p:nvSpPr>
        <p:spPr>
          <a:xfrm flipV="1">
            <a:off x="4070909" y="2971800"/>
            <a:ext cx="1433779" cy="1267358"/>
          </a:xfrm>
          <a:prstGeom prst="line">
            <a:avLst/>
          </a:prstGeom>
          <a:noFill/>
          <a:ln w="63500">
            <a:solidFill>
              <a:schemeClr val="accent3"/>
            </a:solidFill>
            <a:prstDash val="solid"/>
          </a:ln>
        </p:spPr>
      </p:sp>
      <p:sp>
        <p:nvSpPr>
          <p:cNvPr id="12" name="cost A-B"/>
          <p:cNvSpPr txBox="1"/>
          <p:nvPr/>
        </p:nvSpPr>
        <p:spPr>
          <a:xfrm>
            <a:off x="1393546" y="2191817"/>
            <a:ext cx="438912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13" name="cost A-C"/>
          <p:cNvSpPr txBox="1"/>
          <p:nvPr/>
        </p:nvSpPr>
        <p:spPr>
          <a:xfrm>
            <a:off x="1393546" y="3459175"/>
            <a:ext cx="438912" cy="292608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cost B-C"/>
          <p:cNvSpPr txBox="1"/>
          <p:nvPr/>
        </p:nvSpPr>
        <p:spPr>
          <a:xfrm>
            <a:off x="2110435" y="2825496"/>
            <a:ext cx="438912" cy="292608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cost B-D"/>
          <p:cNvSpPr txBox="1"/>
          <p:nvPr/>
        </p:nvSpPr>
        <p:spPr>
          <a:xfrm>
            <a:off x="2980944" y="1558138"/>
            <a:ext cx="438912" cy="292608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6" name="cost C-D"/>
          <p:cNvSpPr txBox="1"/>
          <p:nvPr/>
        </p:nvSpPr>
        <p:spPr>
          <a:xfrm>
            <a:off x="2980944" y="2825496"/>
            <a:ext cx="438912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8</a:t>
            </a:r>
            <a:endParaRPr lang="en-US" sz="1300" dirty="0"/>
          </a:p>
        </p:txBody>
      </p:sp>
      <p:sp>
        <p:nvSpPr>
          <p:cNvPr id="17" name="cost C-E"/>
          <p:cNvSpPr txBox="1"/>
          <p:nvPr/>
        </p:nvSpPr>
        <p:spPr>
          <a:xfrm>
            <a:off x="2980944" y="4092854"/>
            <a:ext cx="438912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10</a:t>
            </a:r>
            <a:endParaRPr lang="en-US" sz="1300" dirty="0"/>
          </a:p>
        </p:txBody>
      </p:sp>
      <p:sp>
        <p:nvSpPr>
          <p:cNvPr id="18" name="cost D-E"/>
          <p:cNvSpPr txBox="1"/>
          <p:nvPr/>
        </p:nvSpPr>
        <p:spPr>
          <a:xfrm>
            <a:off x="3851453" y="2825496"/>
            <a:ext cx="438912" cy="292608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cost D-F"/>
          <p:cNvSpPr txBox="1"/>
          <p:nvPr/>
        </p:nvSpPr>
        <p:spPr>
          <a:xfrm>
            <a:off x="4568342" y="2191817"/>
            <a:ext cx="438912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cost E-F"/>
          <p:cNvSpPr txBox="1"/>
          <p:nvPr/>
        </p:nvSpPr>
        <p:spPr>
          <a:xfrm>
            <a:off x="4568342" y="3459175"/>
            <a:ext cx="438912" cy="292608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village A"/>
          <p:cNvSpPr txBox="1"/>
          <p:nvPr/>
        </p:nvSpPr>
        <p:spPr>
          <a:xfrm>
            <a:off x="621792" y="2697480"/>
            <a:ext cx="548640" cy="54864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  <a:endParaRPr lang="en-US" sz="1800" dirty="0"/>
          </a:p>
        </p:txBody>
      </p:sp>
      <p:sp>
        <p:nvSpPr>
          <p:cNvPr id="22" name="village B"/>
          <p:cNvSpPr txBox="1"/>
          <p:nvPr/>
        </p:nvSpPr>
        <p:spPr>
          <a:xfrm>
            <a:off x="2055571" y="1430122"/>
            <a:ext cx="548640" cy="54864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23" name="village C"/>
          <p:cNvSpPr txBox="1"/>
          <p:nvPr/>
        </p:nvSpPr>
        <p:spPr>
          <a:xfrm>
            <a:off x="2055571" y="3964838"/>
            <a:ext cx="548640" cy="54864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</a:t>
            </a:r>
            <a:endParaRPr lang="en-US" sz="1800" dirty="0"/>
          </a:p>
        </p:txBody>
      </p:sp>
      <p:sp>
        <p:nvSpPr>
          <p:cNvPr id="24" name="village D"/>
          <p:cNvSpPr txBox="1"/>
          <p:nvPr/>
        </p:nvSpPr>
        <p:spPr>
          <a:xfrm>
            <a:off x="3796589" y="1430122"/>
            <a:ext cx="548640" cy="54864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</a:t>
            </a:r>
            <a:endParaRPr lang="en-US" sz="1800" dirty="0"/>
          </a:p>
        </p:txBody>
      </p:sp>
      <p:sp>
        <p:nvSpPr>
          <p:cNvPr id="25" name="village E"/>
          <p:cNvSpPr txBox="1"/>
          <p:nvPr/>
        </p:nvSpPr>
        <p:spPr>
          <a:xfrm>
            <a:off x="3796589" y="3964838"/>
            <a:ext cx="548640" cy="54864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</a:t>
            </a:r>
            <a:endParaRPr lang="en-US" sz="1800" dirty="0"/>
          </a:p>
        </p:txBody>
      </p:sp>
      <p:sp>
        <p:nvSpPr>
          <p:cNvPr id="26" name="village F"/>
          <p:cNvSpPr txBox="1"/>
          <p:nvPr/>
        </p:nvSpPr>
        <p:spPr>
          <a:xfrm>
            <a:off x="5230368" y="2697480"/>
            <a:ext cx="548640" cy="54864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13716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13</a:t>
            </a:r>
            <a:endParaRPr lang="en-US" sz="66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2423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gold coins in total, and no cheaper network exists</a:t>
            </a:r>
            <a:endParaRPr lang="en-US" sz="1600" dirty="0"/>
          </a:p>
        </p:txBody>
      </p:sp>
      <p:sp>
        <p:nvSpPr>
          <p:cNvPr id="29" name="sticky note"/>
          <p:cNvSpPr txBox="1"/>
          <p:nvPr/>
        </p:nvSpPr>
        <p:spPr>
          <a:xfrm rot="-120000">
            <a:off x="6217920" y="3291840"/>
            <a:ext cx="2468880" cy="11887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1778" tIns="1778" rIns="1778" bIns="1778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C–D (8) and C–E (10) never got built. Too pricey, and those villages were already connected.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Inside the engineer’s notebook</a:t>
            </a:r>
            <a:endParaRPr lang="en-US" sz="3400" dirty="0"/>
          </a:p>
        </p:txBody>
      </p:sp>
      <p:sp>
        <p:nvSpPr>
          <p:cNvPr id="3" name="code card"/>
          <p:cNvSpPr/>
          <p:nvPr/>
        </p:nvSpPr>
        <p:spPr>
          <a:xfrm>
            <a:off x="457200" y="1371600"/>
            <a:ext cx="4846320" cy="301752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/>
        </p:spPr>
      </p:sp>
      <p:sp>
        <p:nvSpPr>
          <p:cNvPr id="4" name="pseudocode"/>
          <p:cNvSpPr txBox="1"/>
          <p:nvPr/>
        </p:nvSpPr>
        <p:spPr>
          <a:xfrm>
            <a:off x="731520" y="1645920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kingdom = { start }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kingdom ≠ all villages: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pick cheapest road (u, v)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 in kingdom, v outside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 road, add v to kingdom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577840" y="1371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O(V²)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57784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with an adjacency matrix, good for crowded maps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23774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O(E log V)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with a min-heap, good for sparse maps</a:t>
            </a:r>
            <a:endParaRPr lang="en-US" sz="1400" dirty="0"/>
          </a:p>
        </p:txBody>
      </p:sp>
      <p:sp>
        <p:nvSpPr>
          <p:cNvPr id="9" name="sticky note"/>
          <p:cNvSpPr txBox="1"/>
          <p:nvPr/>
        </p:nvSpPr>
        <p:spPr>
          <a:xfrm rot="-120000">
            <a:off x="5577840" y="3429000"/>
            <a:ext cx="3017520" cy="100584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1778" tIns="1778" rIns="1778" bIns="1778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Don’t mix it up: Kruskal sorts every road first. Prim just grows from one spot.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11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15087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Start anywhere and grow one village at a time.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37744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Always take the cheapest road that reaches someone new.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46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324612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You end with n − 1 roads and the lowest total cost.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206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chemeClr val="accent2"/>
                </a:solidFill>
              </a:rPr>
              <a:t>Thanks!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ara Ink">
  <a:themeElements>
    <a:clrScheme name="Nodara Ink">
      <a:dk1>
        <a:srgbClr val="2B2A33"/>
      </a:dk1>
      <a:lt1>
        <a:srgbClr val="FFFFFF"/>
      </a:lt1>
      <a:dk2>
        <a:srgbClr val="1F2A44"/>
      </a:dk2>
      <a:lt2>
        <a:srgbClr val="FBF6EA"/>
      </a:lt2>
      <a:accent1>
        <a:srgbClr val="B5472F"/>
      </a:accent1>
      <a:accent2>
        <a:srgbClr val="F0C75A"/>
      </a:accent2>
      <a:accent3>
        <a:srgbClr val="3E7C59"/>
      </a:accent3>
      <a:accent4>
        <a:srgbClr val="7A5C3E"/>
      </a:accent4>
      <a:accent5>
        <a:srgbClr val="9A8F7D"/>
      </a:accent5>
      <a:accent6>
        <a:srgbClr val="3F5E8C"/>
      </a:accent6>
      <a:hlink>
        <a:srgbClr val="B5472F"/>
      </a:hlink>
      <a:folHlink>
        <a:srgbClr val="9A8F7D"/>
      </a:folHlink>
    </a:clrScheme>
    <a:fontScheme name="Nodara 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 King Built Roads Without Going Broke: Prim's Algorithm</dc:title>
  <dc:subject>PptxGenJS Presentation</dc:subject>
  <dc:creator>PptxGenJS</dc:creator>
  <cp:lastModifiedBy>PptxGenJS</cp:lastModifiedBy>
  <cp:revision>1</cp:revision>
  <dcterms:created xsi:type="dcterms:W3CDTF">2026-10-20T13:46:00Z</dcterms:created>
  <dcterms:modified xsi:type="dcterms:W3CDTF">2026-10-20T13:46:00Z</dcterms:modified>
</cp:coreProperties>
</file>